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0"/>
            <a:ext cx="5330952" cy="6492240"/>
          </a:xfrm>
          <a:prstGeom prst="rect">
            <a:avLst/>
          </a:prstGeom>
          <a:solidFill>
            <a:srgbClr val="142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STRATEGIC ADVISORY  ·  NEW YORK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217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>
                <a:solidFill>
                  <a:srgbClr val="FFFFFF"/>
                </a:solidFill>
                <a:latin typeface="Georgia"/>
              </a:rPr>
              <a:t>The advisors that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top-tier firms trained,</a:t>
            </a:r>
          </a:p>
          <a:p>
            <a:pPr algn="l"/>
            <a:r>
              <a:rPr sz="4200" b="0">
                <a:solidFill>
                  <a:srgbClr val="C9A84C"/>
                </a:solidFill>
                <a:latin typeface="Georgia"/>
              </a:rPr>
              <a:t>now working for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F"/>
                </a:solidFill>
                <a:latin typeface="Arial"/>
              </a:rPr>
              <a:t>Market strategy. Financial architecture. Capital introduction.
Investor-ready in 48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280160"/>
            <a:ext cx="4114800" cy="3474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280160"/>
            <a:ext cx="54864" cy="3474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00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B8"/>
                </a:solidFill>
                <a:latin typeface="Arial"/>
              </a:rPr>
              <a:t>Market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562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$4.2B addressable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606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B8"/>
                </a:solidFill>
                <a:latin typeface="Arial"/>
              </a:rPr>
              <a:t>Typical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62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5–15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611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B8"/>
                </a:solidFill>
                <a:latin typeface="Arial"/>
              </a:rPr>
              <a:t>Investor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8679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200+ active VCs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Georgia"/>
              </a:rPr>
              <a:t>Most founders</a:t>
            </a:r>
          </a:p>
          <a:p>
            <a:pPr algn="l"/>
            <a:r>
              <a:rPr sz="3600" b="0">
                <a:solidFill>
                  <a:srgbClr val="FFFFFF"/>
                </a:solidFill>
                <a:latin typeface="Georgia"/>
              </a:rPr>
              <a:t>fail not because of the product —</a:t>
            </a:r>
          </a:p>
          <a:p>
            <a:pPr algn="l"/>
            <a:r>
              <a:rPr sz="3400" b="1">
                <a:solidFill>
                  <a:srgbClr val="C9A84C"/>
                </a:solidFill>
                <a:latin typeface="Georgia"/>
              </a:rPr>
              <a:t>but because of the thinking behind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Investors fund conviction, not just ideas. Before a founder walks into a room, they need to answer three questions with complete clarity: who exactly is the customer, how large is the real opportunity, and why is this team the one to capture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94360"/>
            <a:ext cx="5029200" cy="5577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594360"/>
            <a:ext cx="54864" cy="5577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960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Fuzzy market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61848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Founders target markets too broad or too vague to defend.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517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971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Weak financial narrative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31012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Unit economics don’t hold up when investors stress-test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663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No investor-market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0017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Pitching to the wrong funds, with the wrong story, at the wrong stage.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MARKET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Every major firm has published the same finding: AI adoption is universal — but transformation is rare, and the strategy gap is widening.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Organizations using AI in at least one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029200" cy="201168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4425696" cy="201168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74650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025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McKinsey State of AI,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Who have scaled AI across the 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5029200" cy="201168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1659636" cy="20116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2679191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352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McKinsey State of AI,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741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Experimenting with AI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48456"/>
            <a:ext cx="5029200" cy="201168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48456"/>
            <a:ext cx="3118104" cy="20116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61188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6791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McKinsey State of AI,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0682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Actually scaling AI agents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81144"/>
            <a:ext cx="5029200" cy="201168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81144"/>
            <a:ext cx="1156716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9552" y="454456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23%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McKinsey State of AI,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395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Reporting meaningful EBIT impact from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13832"/>
            <a:ext cx="5029200" cy="201168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513832"/>
            <a:ext cx="276606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9552" y="547725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5.5%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3328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McKinsey State of AI, 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371600"/>
            <a:ext cx="5486400" cy="1481328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4864" cy="14813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463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THE CORE TENSION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75564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F"/>
                </a:solidFill>
                <a:latin typeface="Arial"/>
              </a:rPr>
              <a:t>“AI adoption is now table stakes. Transformation is still the edge.”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59689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McKinsey State of AI,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017520"/>
            <a:ext cx="5486400" cy="1481328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017520"/>
            <a:ext cx="54864" cy="14813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1089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THE CEO MANDATE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40156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F"/>
                </a:solidFill>
                <a:latin typeface="Arial"/>
              </a:rPr>
              <a:t>72% of CEOs are now their company’s primary AI decision-maker — double the share from last year. Half believe their job depends on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2428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BCG AI Radar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663440"/>
            <a:ext cx="5486400" cy="1481328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663440"/>
            <a:ext cx="54864" cy="14813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75487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THE INVESTMENT SURGE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04748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F"/>
                </a:solidFill>
                <a:latin typeface="Arial"/>
              </a:rPr>
              <a:t>Companies are doubling AI spend in 2026 — from 0.8% to 1.7% of revenues. 94% will continue investing even without immediate returns.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88873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BCG AI Radar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8C"/>
                </a:solidFill>
                <a:latin typeface="Arial"/>
              </a:rPr>
              <a:t>FOUNDER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F8C"/>
                </a:solidFill>
                <a:latin typeface="Georgia"/>
              </a:rPr>
              <a:t>The firms winning with AI are not smarter — they have better strategy. Founders who walk into investor meetings without one are already behind.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577840" cy="141732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AFF"/>
                </a:solidFill>
                <a:latin typeface="Georgia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00200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F"/>
                </a:solidFill>
                <a:latin typeface="Arial"/>
              </a:rPr>
              <a:t>of organizations use AI — which means your investors have seen dozens of AI-native pitches. Standing out requires strategy, not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McKinsey State of AI,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81528"/>
            <a:ext cx="5577840" cy="141732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81528"/>
            <a:ext cx="54864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18688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AFF"/>
                </a:solidFill>
                <a:latin typeface="Georgia"/>
              </a:rP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72968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F"/>
                </a:solidFill>
                <a:latin typeface="Arial"/>
              </a:rPr>
              <a:t>of CEOs believe AI agents will produce measurable ROI in 2026. Investors expect founders to have thought through AI’s role in their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2452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BCG AI Radar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54296"/>
            <a:ext cx="5577840" cy="141732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54296"/>
            <a:ext cx="54864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91456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C2626"/>
                </a:solidFill>
                <a:latin typeface="Georgia"/>
              </a:rPr>
              <a:t>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745736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F"/>
                </a:solidFill>
                <a:latin typeface="Arial"/>
              </a:rPr>
              <a:t>Corporate AI spend is doubling in 2026. The companies founders pitch against are moving faster than ever. Strategy is the differentiator.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9729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4B8"/>
                </a:solidFill>
                <a:latin typeface="Arial"/>
              </a:rPr>
              <a:t>BCG AI Radar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4864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42646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Sources behind this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828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McKinsey State of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0" y="1856231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1856231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939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BCG AI Radar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0" y="2121408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21214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3591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Deloitte State of AI in the Enterprise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89920" y="2386584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238658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62432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PwC AI Business Predictions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20" y="2651760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26517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8895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Bain Technology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89920" y="2916936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0" y="29169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154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KPMG Global AI Pulse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89920" y="3182112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0" y="31821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Q1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4198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EY AI Pulse Survey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89920" y="3447288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0" y="344728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Wave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36850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WEF x Capgemini AI Agents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89920" y="3712464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37124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39502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McKinsey AI Transformation Manifesto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89920" y="3977640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89920" y="39776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21538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Deloitte Agentic Enterprise 2028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89920" y="4242816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0" y="424281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4480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Arial"/>
              </a:rPr>
              <a:t>BCG $200B Agentic AI Opportunity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89920" y="4507992"/>
            <a:ext cx="822960" cy="1828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89920" y="45079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983480"/>
            <a:ext cx="5486400" cy="109728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0" y="4983480"/>
            <a:ext cx="54864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0" y="5074920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“ASC monitors every major consulting firm’s research output and translates it into strategy for founders — so you walk in already knowing what the market is doing.”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8C"/>
                </a:solidFill>
                <a:latin typeface="Arial"/>
              </a:rPr>
              <a:t>OUR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F8C"/>
                </a:solidFill>
                <a:latin typeface="Georgia"/>
              </a:rPr>
              <a:t>Strategy first. Everything else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We help founders answer the three questions every serious investor asks — with precision and conviction.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3657600" cy="420624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3657600" cy="45720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Market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2608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Customer definition &amp; segmentation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42900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Market sizing (TAM / SAM / SOM)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93192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Competitive positioning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43484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Go-to-market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3657600" cy="420624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920240"/>
            <a:ext cx="3657600" cy="45720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9659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Financial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92608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28346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Revenue model &amp; unit economics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42900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337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Scenario &amp; sensitivity planning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93192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59" y="38404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Fundraising structure &amp; milestones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443484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59" y="43434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Financial story for investors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59" y="1920240"/>
            <a:ext cx="3657600" cy="420624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59" y="1920240"/>
            <a:ext cx="3657600" cy="45720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19659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39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Capital Strategy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39" y="292608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799" y="28346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Investor targeting &amp; fit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39" y="342900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799" y="3337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Narrative sharpening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39" y="393192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799" y="38404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Warm introduction pathways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39" y="443484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799" y="43434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Pitch preparation &amp; Q&amp;A coaching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Senior thinking. Unusual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A84C"/>
                </a:solidFill>
                <a:latin typeface="Arial"/>
              </a:rPr>
              <a:t>From first conversation to investor-ready strategy — in 48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2697480" cy="4206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2057400"/>
            <a:ext cx="1051560" cy="91440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1031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4B8"/>
                </a:solidFill>
                <a:latin typeface="Arial"/>
              </a:rPr>
              <a:t>A focused conversation where we learn the business, the market, and the ambition.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874519"/>
            <a:ext cx="2697480" cy="4206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874519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8" y="2057400"/>
            <a:ext cx="1051560" cy="91440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8" y="21031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154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Strategic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3749039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4B8"/>
                </a:solidFill>
                <a:latin typeface="Arial"/>
              </a:rPr>
              <a:t>We pressure-test the market thesis, customer definition, and competitive positioning.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216" y="1874519"/>
            <a:ext cx="2697480" cy="4206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1874519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23176" y="2057400"/>
            <a:ext cx="1051560" cy="91440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21031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154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Investor-Ready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749039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4B8"/>
                </a:solidFill>
                <a:latin typeface="Arial"/>
              </a:rPr>
              <a:t>Strategy docs, financial architecture, and investor targeting built to institutional standards.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4584" y="1874519"/>
            <a:ext cx="2697480" cy="4206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4584" y="1874519"/>
            <a:ext cx="26974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67544" y="2057400"/>
            <a:ext cx="1051560" cy="91440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67544" y="210312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3154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749039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4B8"/>
                </a:solidFill>
                <a:latin typeface="Arial"/>
              </a:rPr>
              <a:t>We prepare founders for the conversations that matter — questions, objections, decisive moments.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0167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⚡  Typical turnaround: 48 hours from first call to investor-ready deliverables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8C"/>
                </a:solidFill>
                <a:latin typeface="Arial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F8C"/>
                </a:solidFill>
                <a:latin typeface="Georgia"/>
              </a:rPr>
              <a:t>A massive market, underserved at the 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The global strategy consulting market is growing at 10% CAGR. Yet early-stage founders — who need it most — are priced out of every top firm.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0995" y="2057400"/>
            <a:ext cx="9966960" cy="713232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9595" y="213055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F8C"/>
                </a:solidFill>
                <a:latin typeface="Arial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8315" y="2112264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F8C"/>
                </a:solidFill>
                <a:latin typeface="Georgia"/>
              </a:rPr>
              <a:t>$300B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1476" y="224028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F8C"/>
                </a:solidFill>
                <a:latin typeface="Arial"/>
              </a:rPr>
              <a:t>Global strategy consulting 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8276" y="2880360"/>
            <a:ext cx="7772400" cy="713232"/>
          </a:xfrm>
          <a:prstGeom prst="rect">
            <a:avLst/>
          </a:prstGeom>
          <a:solidFill>
            <a:srgbClr val="C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6876" y="295351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F8C"/>
                </a:solidFill>
                <a:latin typeface="Arial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5596" y="2935224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F8C"/>
                </a:solidFill>
                <a:latin typeface="Georgia"/>
              </a:rPr>
              <a:t>$18B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8756" y="30632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F8C"/>
                </a:solidFill>
                <a:latin typeface="Arial"/>
              </a:rPr>
              <a:t>Startup &amp; early-stage advisory segment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5556" y="3703320"/>
            <a:ext cx="5577840" cy="713232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4156" y="37764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2876" y="3758183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$85M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036" y="388620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Accessible market — seed to Series B founders, 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800600"/>
            <a:ext cx="5788152" cy="128016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892040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Georgia"/>
              </a:rPr>
              <a:t>10% CAGR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86400"/>
            <a:ext cx="5788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4B8"/>
                </a:solidFill>
                <a:latin typeface="Arial"/>
              </a:rPr>
              <a:t>Global strategy consulting market growth rate (McKinsey Global Institute, 2024)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9144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Two revenue streams. One focused offer.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5394960" cy="4434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013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Project-Based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Georgia"/>
              </a:rPr>
              <a:t>$8,000 – $25,000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B8"/>
                </a:solidFill>
                <a:latin typeface="Arial"/>
              </a:rPr>
              <a:t>per 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4572000" cy="36576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2044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4290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Full strategy sprint (5–15 days)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41063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4962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Investor-ready deliverables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61688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702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Market sizing &amp; positioning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82312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690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Financial model &amp; pitch prep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02936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11149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Best for: pre-seed / seed founders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59" y="1645920"/>
            <a:ext cx="5394960" cy="4434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59" y="164592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18013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Retainer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31343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Georgia"/>
              </a:rPr>
              <a:t>$5,000 – $12,000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B8"/>
                </a:solidFill>
                <a:latin typeface="Arial"/>
              </a:rPr>
              <a:t>per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59" y="3291840"/>
            <a:ext cx="4572000" cy="36576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59" y="352044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2007" y="34290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Ongoing strategic advisory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59" y="3941063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2007" y="384962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Investor intro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59" y="4361688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22007" y="42702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Monthly strategy review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59" y="4782312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22007" y="4690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Continuous narrative refinement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59" y="5202936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22007" y="511149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Best for: Series A+ founders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0624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Target gross margin: 70–80%  ·  Target Year 2 ARR: $2.1M  ·  CAC &lt; $800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8C"/>
                </a:solidFill>
                <a:latin typeface="Arial"/>
              </a:rPr>
              <a:t>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F8C"/>
                </a:solidFill>
                <a:latin typeface="Georgia"/>
              </a:rPr>
              <a:t>The gap between prestige and access — we fill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11365992" cy="4572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508760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McKinsey / Bain / BCG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7256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Boutique Advisors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1504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Freelance Consultants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1508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A² Consultancy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65960"/>
            <a:ext cx="11365992" cy="420624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54312" y="1965960"/>
            <a:ext cx="1920240" cy="420624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11679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Senior-led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1167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20116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Sometimes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4" y="20116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Rarely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20116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 Always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23160"/>
            <a:ext cx="11365992" cy="420624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54312" y="2423160"/>
            <a:ext cx="1920240" cy="420624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68879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Affordable for founders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46887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24688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4688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4688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880360"/>
            <a:ext cx="11365992" cy="420624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54312" y="2880360"/>
            <a:ext cx="1920240" cy="420624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26079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Investor-ready in 48h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92607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6" y="29260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504" y="29260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29260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337560"/>
            <a:ext cx="11365992" cy="420624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54312" y="3337560"/>
            <a:ext cx="1920240" cy="420624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383279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200+ investor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338327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7256" y="33832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1504" y="33832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5752" y="3383279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794760"/>
            <a:ext cx="11365992" cy="420624"/>
          </a:xfrm>
          <a:prstGeom prst="rect">
            <a:avLst/>
          </a:prstGeom>
          <a:solidFill>
            <a:srgbClr val="F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54312" y="3794760"/>
            <a:ext cx="1920240" cy="420624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84048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Startup stage focus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1568" y="3840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7256" y="3840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Partial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1504" y="3840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Varies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2" y="3840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251960"/>
            <a:ext cx="11365992" cy="420624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54312" y="4251960"/>
            <a:ext cx="1920240" cy="420624"/>
          </a:xfrm>
          <a:prstGeom prst="rect">
            <a:avLst/>
          </a:prstGeom>
          <a:solidFill>
            <a:srgbClr val="E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29768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Seed → Series B coverage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1568" y="42976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77256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Partial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1504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Varies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5752" y="4297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C4A"/>
                </a:solidFill>
                <a:latin typeface="Arial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 bench of senior advisors,
not a junior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Every engagement is staffed with consultants who have sat across the table from the investors you are trying to reach — and helped businesses like yours get funded. We do not send junior analysts to your most important meetings.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2286000" cy="54864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160520"/>
            <a:ext cx="64008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McKINSEY &amp; 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4160520"/>
            <a:ext cx="2286000" cy="54864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4160520"/>
            <a:ext cx="64008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206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BAIN &amp; 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4160520"/>
            <a:ext cx="2286000" cy="54864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32120" y="4160520"/>
            <a:ext cx="64008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4206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BCG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594360"/>
            <a:ext cx="5257800" cy="5577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594360"/>
            <a:ext cx="64008" cy="55778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24128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9601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Senior-Only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130759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Every engagement lead has 10+ years at a top-3 strategy firm.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258568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21945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Domain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420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Specialists across fintech, SaaS, marketplace, healthtech, and deeptech.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3493008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3429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Investor Relationships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77647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Our network spans 200+ active VCs and angels in NY, SF, and London.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4727448"/>
            <a:ext cx="54864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4663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Founder Empathy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501091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Our advisors have founded, funded, and scaled companies themselves.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F8C"/>
                </a:solidFill>
                <a:latin typeface="Arial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F8C"/>
                </a:solidFill>
                <a:latin typeface="Georgia"/>
              </a:rPr>
              <a:t>Three phases. One clear direction.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611880" cy="4572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61188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20240"/>
            <a:ext cx="1463040" cy="292608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Months 1–6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Build &amp; Validate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7180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Launch with 20 pilot clients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47288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Refine delivery playbook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22775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Build case study library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98263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0682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Target: $400K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1463040"/>
            <a:ext cx="3611880" cy="4572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1463040"/>
            <a:ext cx="361188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1600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PHASE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1920240"/>
            <a:ext cx="1463040" cy="292608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1938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Months 7–18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Scale &amp; Network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297180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28803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Expand advisor bench to 15+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3712" y="3447288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3558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Open SF office presence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53712" y="3922775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Grow investor network to 500+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3712" y="4398263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430682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Target: $1.2M ARR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0183" y="1463040"/>
            <a:ext cx="3611880" cy="4572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30183" y="1463040"/>
            <a:ext cx="361188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3063" y="1600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PHASE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13063" y="1920240"/>
            <a:ext cx="1463040" cy="292608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3" y="1938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Months 19–36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3063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Market Leadership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13063" y="2971800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0224" y="28803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Product-ize signature frameworks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13063" y="3447288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0224" y="33558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Launch founder community platform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13063" y="3922775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0224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Expand to London market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13063" y="4398263"/>
            <a:ext cx="5486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0224" y="430682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F"/>
                </a:solidFill>
                <a:latin typeface="Arial"/>
              </a:rPr>
              <a:t>Target: $4M+ ARR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1645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4B8"/>
                </a:solidFill>
                <a:latin typeface="Arial"/>
              </a:rPr>
              <a:t>12 / 12</a:t>
            </a:r>
          </a:p>
        </p:txBody>
      </p:sp>
      <p:sp>
        <p:nvSpPr>
          <p:cNvPr id="5" name="Oval 4"/>
          <p:cNvSpPr/>
          <p:nvPr/>
        </p:nvSpPr>
        <p:spPr>
          <a:xfrm>
            <a:off x="7132320" y="-457200"/>
            <a:ext cx="5943600" cy="5943600"/>
          </a:xfrm>
          <a:prstGeom prst="ellipse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2296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Georgia"/>
              </a:rPr>
              <a:t>The right strategy</a:t>
            </a:r>
          </a:p>
          <a:p>
            <a:pPr algn="l"/>
            <a:r>
              <a:rPr sz="3800" b="0">
                <a:solidFill>
                  <a:srgbClr val="FFFFFF"/>
                </a:solidFill>
                <a:latin typeface="Georgia"/>
              </a:rPr>
              <a:t> changes everything.</a:t>
            </a:r>
          </a:p>
          <a:p>
            <a:pPr algn="l"/>
            <a:r>
              <a:rPr sz="3800" b="1">
                <a:solidFill>
                  <a:srgbClr val="C9A84C"/>
                </a:solidFill>
                <a:latin typeface="Georgia"/>
              </a:rPr>
              <a:t>Let’s build yours.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57600"/>
            <a:ext cx="539496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64008" cy="2377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B8"/>
                </a:solidFill>
                <a:latin typeface="Arial"/>
              </a:rPr>
              <a:t>We are raising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$750K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92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Pre-seed · Convertible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30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B8"/>
                </a:solidFill>
                <a:latin typeface="Arial"/>
              </a:rPr>
              <a:t>Hiring 3 senior advisors · Tech infrastructure · NY + SF expansion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657600"/>
            <a:ext cx="4892040" cy="2377440"/>
          </a:xfrm>
          <a:prstGeom prst="rect">
            <a:avLst/>
          </a:prstGeom>
          <a:solidFill>
            <a:srgbClr val="1A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88620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Book a Strategy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262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84C"/>
                </a:solidFill>
                <a:latin typeface="Arial"/>
              </a:rPr>
              <a:t>calendly.com/asquareconsultancy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8348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CFF"/>
                </a:solidFill>
                <a:latin typeface="Arial"/>
              </a:rPr>
              <a:t>shehryar.malik@asquareconsultancy.us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9496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4B8"/>
                </a:solidFill>
                <a:latin typeface="Arial"/>
              </a:rPr>
              <a:t>New York · San Francisco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22860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6537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Arial"/>
              </a:rPr>
              <a:t>CONFIDENTIAL  ·  A SQUARE CONSULTANCY  ·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379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B8"/>
                </a:solidFill>
                <a:latin typeface="Arial"/>
              </a:rPr>
              <a:t>asquareconsultancy.us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